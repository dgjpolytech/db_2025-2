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7" r:id="rId2"/>
    <p:sldId id="259" r:id="rId3"/>
    <p:sldId id="258" r:id="rId4"/>
    <p:sldId id="261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87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3D4892-17A4-413E-B721-EAA92BAF3922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F8363C3-EDFF-4F51-A1C2-B19BFF4B445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42743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8363C3-EDFF-4F51-A1C2-B19BFF4B4459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21553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F421E1-D5BE-EFA4-90EB-B1B67D95DB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8E111BA-A282-C78D-B8CE-02E56E1276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522544C-119A-61C1-5C2E-2196DFB3BC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6D67C30-7E77-8116-81E0-025960DD26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8363C3-EDFF-4F51-A1C2-B19BFF4B4459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64612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09929F-F3EF-D08D-8DD2-F3800E99F4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9560C48-BD73-899C-1F86-877C9EF4CF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4827583-7898-49E4-A68E-10C33EBCB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D8199-767F-4853-8265-DF04A9D9BCB9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2B98CA1-F7C5-23E8-A63B-78790D0082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D8FE59C-8EC8-1A90-DF4F-1670DA720E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B56683-F5EB-478A-8816-5210DF4994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99769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D1650D-19A7-2AC7-32D0-1250F4D6D7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77B89B0-DAD2-3714-0A4B-BBD21B92BD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C591E1F-496E-3930-68C0-DD5FF1A087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D8199-767F-4853-8265-DF04A9D9BCB9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B8463D3-D585-13D3-7239-408FB49205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F9F29B1-B620-2E2B-ABE3-F314505F47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B56683-F5EB-478A-8816-5210DF4994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35146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AA67FEC-4C2B-F272-F635-08ACD1B82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3E1570C-D3E6-3817-C6EE-54BD8F46DB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90E78D0-97D6-7144-C700-C923464619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D8199-767F-4853-8265-DF04A9D9BCB9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FF9DC20-AC73-DD48-F8F1-221CB8E73A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1CDF02E-3E65-9511-04F0-3C93DC0EF9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B56683-F5EB-478A-8816-5210DF4994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18518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B6FE82-5513-036F-81B0-BB259CC181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D06FB90-2BAE-DC56-AB49-A711CB9F03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5734C8E-9863-5B93-94BC-208791B693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CD48EEB-3557-9940-5171-2C78DC517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D8199-767F-4853-8265-DF04A9D9BCB9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3A17E7E-1211-2593-12A1-3054A21BD3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1B7D983-56A8-0121-1BED-B13BA874C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B56683-F5EB-478A-8816-5210DF4994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07490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C0D50F-79F2-399B-9AE6-45AA83419E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6429996-BE54-CA81-41A3-03E5AB379D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45CE56D-7579-089E-D0A5-9C883F9F84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C735496-CD51-29C5-5B7D-6079C20E91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01C0FF20-3F2B-A127-B419-856B5B681D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5181240-3297-A084-BB9C-5D1FBE7ED3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D8199-767F-4853-8265-DF04A9D9BCB9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A63BBE6-E22B-964C-2693-B392C20A83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70C6603-2C6D-33A2-CF61-D14549E30C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B56683-F5EB-478A-8816-5210DF4994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15947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0C6FD31-D73D-EEB7-3AC2-F516932677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0ED3256-D756-A136-FC20-846B156E41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D8199-767F-4853-8265-DF04A9D9BCB9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9E84C5A-5D8C-880D-56B6-A4C83996B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F801F49-289F-65D8-3598-E5BEB6335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B56683-F5EB-478A-8816-5210DF4994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51257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EB2F732-CAA3-0725-2486-1428597F76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D8199-767F-4853-8265-DF04A9D9BCB9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1368F28-3EAA-DA76-30DD-5F7858A4E0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D696EE9-645D-1A4F-4574-37D0A826A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B56683-F5EB-478A-8816-5210DF4994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1944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177956-4656-1B0F-C819-CF8676B988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355AC4D-64FF-A197-8B74-23385C4A11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9091474-3BA7-A036-6BB1-11A3B91C8A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7A1AFC5-8A2F-0579-DFF5-E0DFA21EC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D8199-767F-4853-8265-DF04A9D9BCB9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F9E4754-3F44-1285-47F5-04B7CB208E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A2D49EF-0A89-3088-C3B5-899068A4CC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B56683-F5EB-478A-8816-5210DF4994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6153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069448-4469-D6BA-9A7D-DD2546997A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61A2C83-3C69-CDA3-5D3C-E391010DD1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F7906A7-24CB-1447-A9FF-A3AD763A00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27530A1-A47F-E30E-3B3F-1AC69FE6B6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D8199-767F-4853-8265-DF04A9D9BCB9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C0A1827-EAD4-8DA2-1AD6-138ED1BDD9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0386DD7-AFFA-F083-4CF6-C18E1D241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B56683-F5EB-478A-8816-5210DF4994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18928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03DBDA-5493-CB2C-7B08-6F01699378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B7F0CC5-4F1B-8D48-7F49-6D3E9D0E46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E0EF12A-FA9A-173A-8CCB-2538ABECA7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D8199-767F-4853-8265-DF04A9D9BCB9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2C2702B-413A-BB86-A11B-47D9B54FE5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B27B762-E1B1-D623-E816-1D13041553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B56683-F5EB-478A-8816-5210DF4994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00970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00AB341-2349-846C-CD76-F6BD9C75217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BEFE8CB-5BA0-859A-A881-D71D383523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0C93F25-A97A-B367-282C-9CA748030B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D8199-767F-4853-8265-DF04A9D9BCB9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CD7A9FD-F8BF-34B7-D7B5-E11C53C711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D23E1AB-C174-53C7-48DB-4C47EB5DCF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B56683-F5EB-478A-8816-5210DF4994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47065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6F4CFE00-3575-D94D-2380-13EBA7E274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404F5D7-2738-E52B-D8D4-3156629415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ABAD1F7-EEA5-5F7E-7406-5EFE52DCB5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AD8199-767F-4853-8265-DF04A9D9BCB9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8C4F3C4-E514-FABD-EEDF-62122E8BD1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BE1BDE9-5E2F-5BCA-E820-347F2EA554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AB56683-F5EB-478A-8816-5210DF4994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8444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5D89CF4-9ABE-0472-D810-841F91BBB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원본 테이블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85B6FD4B-357E-EC0D-5463-C205653611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507" y="1767312"/>
            <a:ext cx="7030419" cy="4277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66108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27575E-3FC6-586A-4ECB-B53A7B259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5589F5-8B7E-6BAE-C6DA-3632502F89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 </a:t>
            </a:r>
            <a:r>
              <a:rPr lang="ko-KR" altLang="en-US" dirty="0"/>
              <a:t>정규형</a:t>
            </a:r>
          </a:p>
        </p:txBody>
      </p:sp>
      <p:graphicFrame>
        <p:nvGraphicFramePr>
          <p:cNvPr id="7" name="내용 개체 틀 6">
            <a:extLst>
              <a:ext uri="{FF2B5EF4-FFF2-40B4-BE49-F238E27FC236}">
                <a16:creationId xmlns:a16="http://schemas.microsoft.com/office/drawing/2014/main" id="{997F699F-99BC-A744-7799-994467BBD6B4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2499880"/>
          <a:ext cx="6412311" cy="33190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6843">
                  <a:extLst>
                    <a:ext uri="{9D8B030D-6E8A-4147-A177-3AD203B41FA5}">
                      <a16:colId xmlns:a16="http://schemas.microsoft.com/office/drawing/2014/main" val="4287279022"/>
                    </a:ext>
                  </a:extLst>
                </a:gridCol>
                <a:gridCol w="1178243">
                  <a:extLst>
                    <a:ext uri="{9D8B030D-6E8A-4147-A177-3AD203B41FA5}">
                      <a16:colId xmlns:a16="http://schemas.microsoft.com/office/drawing/2014/main" val="1497131506"/>
                    </a:ext>
                  </a:extLst>
                </a:gridCol>
                <a:gridCol w="721043">
                  <a:extLst>
                    <a:ext uri="{9D8B030D-6E8A-4147-A177-3AD203B41FA5}">
                      <a16:colId xmlns:a16="http://schemas.microsoft.com/office/drawing/2014/main" val="4201211200"/>
                    </a:ext>
                  </a:extLst>
                </a:gridCol>
                <a:gridCol w="786257">
                  <a:extLst>
                    <a:ext uri="{9D8B030D-6E8A-4147-A177-3AD203B41FA5}">
                      <a16:colId xmlns:a16="http://schemas.microsoft.com/office/drawing/2014/main" val="1310821940"/>
                    </a:ext>
                  </a:extLst>
                </a:gridCol>
                <a:gridCol w="949643">
                  <a:extLst>
                    <a:ext uri="{9D8B030D-6E8A-4147-A177-3AD203B41FA5}">
                      <a16:colId xmlns:a16="http://schemas.microsoft.com/office/drawing/2014/main" val="1329091344"/>
                    </a:ext>
                  </a:extLst>
                </a:gridCol>
                <a:gridCol w="1370282">
                  <a:extLst>
                    <a:ext uri="{9D8B030D-6E8A-4147-A177-3AD203B41FA5}">
                      <a16:colId xmlns:a16="http://schemas.microsoft.com/office/drawing/2014/main" val="1826791218"/>
                    </a:ext>
                  </a:extLst>
                </a:gridCol>
              </a:tblGrid>
              <a:tr h="55317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/>
                        <a:t>고객아이디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고객이름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나이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등급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직업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적립금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0544817"/>
                  </a:ext>
                </a:extLst>
              </a:tr>
              <a:tr h="55317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apple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김현준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20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gold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학생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2000237"/>
                  </a:ext>
                </a:extLst>
              </a:tr>
              <a:tr h="55317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banana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정소화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25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err="1"/>
                        <a:t>vip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간호사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2500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34141918"/>
                  </a:ext>
                </a:extLst>
              </a:tr>
              <a:tr h="55317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carrot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/>
                        <a:t>원유선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28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gold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교사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4500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18707873"/>
                  </a:ext>
                </a:extLst>
              </a:tr>
              <a:tr h="55317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orange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정지영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22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silver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회사원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94858824"/>
                  </a:ext>
                </a:extLst>
              </a:tr>
              <a:tr h="55317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orange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정지영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22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silver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학생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27384905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EB9A9925-64CC-4A4B-5ECD-A3C0B635B469}"/>
              </a:ext>
            </a:extLst>
          </p:cNvPr>
          <p:cNvSpPr txBox="1"/>
          <p:nvPr/>
        </p:nvSpPr>
        <p:spPr>
          <a:xfrm>
            <a:off x="838200" y="1598324"/>
            <a:ext cx="77027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모든 도메인이 </a:t>
            </a:r>
            <a:r>
              <a:rPr lang="ko-KR" altLang="en-US" dirty="0" err="1"/>
              <a:t>원자값</a:t>
            </a:r>
            <a:r>
              <a:rPr lang="en-US" altLang="ko-KR" dirty="0"/>
              <a:t>(</a:t>
            </a:r>
            <a:r>
              <a:rPr lang="ko-KR" altLang="en-US" dirty="0"/>
              <a:t>더 이상 분해할 수 없는 컬럼</a:t>
            </a:r>
            <a:r>
              <a:rPr lang="en-US" altLang="ko-KR" dirty="0"/>
              <a:t>)</a:t>
            </a:r>
            <a:r>
              <a:rPr lang="ko-KR" altLang="en-US" dirty="0"/>
              <a:t>이어야 함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하나의 컬럼에 </a:t>
            </a:r>
            <a:r>
              <a:rPr lang="en-US" altLang="ko-KR" dirty="0"/>
              <a:t>2</a:t>
            </a:r>
            <a:r>
              <a:rPr lang="ko-KR" altLang="en-US" dirty="0"/>
              <a:t>개의 값</a:t>
            </a:r>
            <a:r>
              <a:rPr lang="en-US" altLang="ko-KR" dirty="0"/>
              <a:t>(</a:t>
            </a:r>
            <a:r>
              <a:rPr lang="ko-KR" altLang="en-US" dirty="0"/>
              <a:t>회사원</a:t>
            </a:r>
            <a:r>
              <a:rPr lang="en-US" altLang="ko-KR" dirty="0"/>
              <a:t>, </a:t>
            </a:r>
            <a:r>
              <a:rPr lang="ko-KR" altLang="en-US" dirty="0"/>
              <a:t>학생</a:t>
            </a:r>
            <a:r>
              <a:rPr lang="en-US" altLang="ko-KR" dirty="0"/>
              <a:t>)</a:t>
            </a:r>
            <a:r>
              <a:rPr lang="ko-KR" altLang="en-US" dirty="0"/>
              <a:t>이 있던 정지영 고객의 컬럼을 분리</a:t>
            </a:r>
          </a:p>
        </p:txBody>
      </p:sp>
    </p:spTree>
    <p:extLst>
      <p:ext uri="{BB962C8B-B14F-4D97-AF65-F5344CB8AC3E}">
        <p14:creationId xmlns:p14="http://schemas.microsoft.com/office/powerpoint/2010/main" val="3024466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6553C8-4BCF-5C23-64DD-24E04C906B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F32CE9-D7EF-2DB9-719C-8A553ED652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2 </a:t>
            </a:r>
            <a:r>
              <a:rPr lang="ko-KR" altLang="en-US" dirty="0"/>
              <a:t>정규형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FEA7E82-2B61-35EC-97AF-1032B562E101}"/>
              </a:ext>
            </a:extLst>
          </p:cNvPr>
          <p:cNvSpPr txBox="1"/>
          <p:nvPr/>
        </p:nvSpPr>
        <p:spPr>
          <a:xfrm>
            <a:off x="838200" y="1548549"/>
            <a:ext cx="110594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부분적 함수 종속이 제거된 상태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직업 정보는 </a:t>
            </a:r>
            <a:r>
              <a:rPr lang="ko-KR" altLang="en-US" dirty="0" err="1"/>
              <a:t>고객아이디</a:t>
            </a:r>
            <a:r>
              <a:rPr lang="en-US" altLang="ko-KR" dirty="0"/>
              <a:t>, </a:t>
            </a:r>
            <a:r>
              <a:rPr lang="ko-KR" altLang="en-US" dirty="0"/>
              <a:t>고객이름 둘 중 하나만 알아도 유추할 수 있음</a:t>
            </a:r>
            <a:r>
              <a:rPr lang="en-US" altLang="ko-KR" dirty="0"/>
              <a:t>. </a:t>
            </a:r>
            <a:r>
              <a:rPr lang="ko-KR" altLang="en-US" dirty="0"/>
              <a:t>따라서 직업 정보를 따로 분리함</a:t>
            </a:r>
            <a:r>
              <a:rPr lang="en-US" altLang="ko-KR" dirty="0"/>
              <a:t>. </a:t>
            </a:r>
          </a:p>
        </p:txBody>
      </p:sp>
      <p:graphicFrame>
        <p:nvGraphicFramePr>
          <p:cNvPr id="13" name="내용 개체 틀 6">
            <a:extLst>
              <a:ext uri="{FF2B5EF4-FFF2-40B4-BE49-F238E27FC236}">
                <a16:creationId xmlns:a16="http://schemas.microsoft.com/office/drawing/2014/main" id="{527D6324-F0C6-DE98-40A9-FAAD2AFCE14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17371509"/>
              </p:ext>
            </p:extLst>
          </p:nvPr>
        </p:nvGraphicFramePr>
        <p:xfrm>
          <a:off x="876778" y="2323537"/>
          <a:ext cx="5219222" cy="19020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6843">
                  <a:extLst>
                    <a:ext uri="{9D8B030D-6E8A-4147-A177-3AD203B41FA5}">
                      <a16:colId xmlns:a16="http://schemas.microsoft.com/office/drawing/2014/main" val="4287279022"/>
                    </a:ext>
                  </a:extLst>
                </a:gridCol>
                <a:gridCol w="1178243">
                  <a:extLst>
                    <a:ext uri="{9D8B030D-6E8A-4147-A177-3AD203B41FA5}">
                      <a16:colId xmlns:a16="http://schemas.microsoft.com/office/drawing/2014/main" val="1497131506"/>
                    </a:ext>
                  </a:extLst>
                </a:gridCol>
                <a:gridCol w="721043">
                  <a:extLst>
                    <a:ext uri="{9D8B030D-6E8A-4147-A177-3AD203B41FA5}">
                      <a16:colId xmlns:a16="http://schemas.microsoft.com/office/drawing/2014/main" val="4201211200"/>
                    </a:ext>
                  </a:extLst>
                </a:gridCol>
                <a:gridCol w="786257">
                  <a:extLst>
                    <a:ext uri="{9D8B030D-6E8A-4147-A177-3AD203B41FA5}">
                      <a16:colId xmlns:a16="http://schemas.microsoft.com/office/drawing/2014/main" val="1310821940"/>
                    </a:ext>
                  </a:extLst>
                </a:gridCol>
                <a:gridCol w="1126836">
                  <a:extLst>
                    <a:ext uri="{9D8B030D-6E8A-4147-A177-3AD203B41FA5}">
                      <a16:colId xmlns:a16="http://schemas.microsoft.com/office/drawing/2014/main" val="1826791218"/>
                    </a:ext>
                  </a:extLst>
                </a:gridCol>
              </a:tblGrid>
              <a:tr h="34174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/>
                        <a:t>고객아이디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고객이름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나이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등급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적립금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0544817"/>
                  </a:ext>
                </a:extLst>
              </a:tr>
              <a:tr h="36391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apple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김현준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20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gold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2000237"/>
                  </a:ext>
                </a:extLst>
              </a:tr>
              <a:tr h="40186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banana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정소화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25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err="1"/>
                        <a:t>vip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2500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34141918"/>
                  </a:ext>
                </a:extLst>
              </a:tr>
              <a:tr h="40287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carrot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/>
                        <a:t>원유선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28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gold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4500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18707873"/>
                  </a:ext>
                </a:extLst>
              </a:tr>
              <a:tr h="29305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orange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정지영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22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silver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94858824"/>
                  </a:ext>
                </a:extLst>
              </a:tr>
            </a:tbl>
          </a:graphicData>
        </a:graphic>
      </p:graphicFrame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5158CCC9-2EF5-BFEB-B9B9-AF13BC0112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1403993"/>
              </p:ext>
            </p:extLst>
          </p:nvPr>
        </p:nvGraphicFramePr>
        <p:xfrm>
          <a:off x="6456219" y="2323537"/>
          <a:ext cx="3509818" cy="22109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4328">
                  <a:extLst>
                    <a:ext uri="{9D8B030D-6E8A-4147-A177-3AD203B41FA5}">
                      <a16:colId xmlns:a16="http://schemas.microsoft.com/office/drawing/2014/main" val="237490978"/>
                    </a:ext>
                  </a:extLst>
                </a:gridCol>
                <a:gridCol w="1406843">
                  <a:extLst>
                    <a:ext uri="{9D8B030D-6E8A-4147-A177-3AD203B41FA5}">
                      <a16:colId xmlns:a16="http://schemas.microsoft.com/office/drawing/2014/main" val="3262959537"/>
                    </a:ext>
                  </a:extLst>
                </a:gridCol>
                <a:gridCol w="1308647">
                  <a:extLst>
                    <a:ext uri="{9D8B030D-6E8A-4147-A177-3AD203B41FA5}">
                      <a16:colId xmlns:a16="http://schemas.microsoft.com/office/drawing/2014/main" val="1607665181"/>
                    </a:ext>
                  </a:extLst>
                </a:gridCol>
              </a:tblGrid>
              <a:tr h="28078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ID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/>
                        <a:t>고객아이디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직업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6736796"/>
                  </a:ext>
                </a:extLst>
              </a:tr>
              <a:tr h="38212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apple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학생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15709550"/>
                  </a:ext>
                </a:extLst>
              </a:tr>
              <a:tr h="32327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banana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간호사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77604053"/>
                  </a:ext>
                </a:extLst>
              </a:tr>
              <a:tr h="33620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3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carrot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교사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89092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4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orange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회사원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499154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5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orange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학생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785584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791946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59DE0A-7BF6-0A19-C203-DDD62E8D88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286833-D492-9834-98F2-C796CF5849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3 </a:t>
            </a:r>
            <a:r>
              <a:rPr lang="ko-KR" altLang="en-US" dirty="0"/>
              <a:t>정규형 및 </a:t>
            </a:r>
            <a:r>
              <a:rPr lang="en-US" altLang="ko-KR" dirty="0"/>
              <a:t>BCNF </a:t>
            </a:r>
            <a:r>
              <a:rPr lang="ko-KR" altLang="en-US" dirty="0"/>
              <a:t>정규형</a:t>
            </a: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D438BB50-50DF-E4F1-DF5A-34BD9329C2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90280"/>
            <a:ext cx="10515600" cy="4351338"/>
          </a:xfrm>
        </p:spPr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3</a:t>
            </a:r>
            <a:r>
              <a:rPr lang="ko-KR" altLang="en-US" dirty="0"/>
              <a:t>정규형</a:t>
            </a:r>
            <a:r>
              <a:rPr lang="en-US" altLang="ko-KR" dirty="0"/>
              <a:t>: </a:t>
            </a:r>
            <a:r>
              <a:rPr lang="ko-KR" altLang="en-US" dirty="0" err="1"/>
              <a:t>이행적</a:t>
            </a:r>
            <a:r>
              <a:rPr lang="ko-KR" altLang="en-US" dirty="0"/>
              <a:t> 함수 종속</a:t>
            </a:r>
            <a:r>
              <a:rPr lang="en-US" altLang="ko-KR" dirty="0"/>
              <a:t>(X -&gt; Y,</a:t>
            </a:r>
            <a:r>
              <a:rPr lang="ko-KR" altLang="en-US" dirty="0"/>
              <a:t> </a:t>
            </a:r>
            <a:r>
              <a:rPr lang="en-US" altLang="ko-KR" dirty="0"/>
              <a:t>Y-&gt;Z…)</a:t>
            </a:r>
            <a:r>
              <a:rPr lang="ko-KR" altLang="en-US" dirty="0"/>
              <a:t>이 제거된 상태</a:t>
            </a:r>
            <a:endParaRPr lang="en-US" altLang="ko-KR" dirty="0"/>
          </a:p>
          <a:p>
            <a:r>
              <a:rPr lang="en-US" altLang="ko-KR" dirty="0"/>
              <a:t>BCNF </a:t>
            </a:r>
            <a:r>
              <a:rPr lang="ko-KR" altLang="en-US" dirty="0"/>
              <a:t>정규형</a:t>
            </a:r>
            <a:r>
              <a:rPr lang="en-US" altLang="ko-KR" dirty="0"/>
              <a:t>: </a:t>
            </a:r>
            <a:r>
              <a:rPr lang="ko-KR" altLang="en-US" dirty="0"/>
              <a:t>모든 결정자가 </a:t>
            </a:r>
            <a:r>
              <a:rPr lang="ko-KR" altLang="en-US" dirty="0" err="1"/>
              <a:t>후보키인</a:t>
            </a:r>
            <a:r>
              <a:rPr lang="ko-KR" altLang="en-US" dirty="0"/>
              <a:t> 상태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ko-KR" altLang="en-US" dirty="0" err="1"/>
              <a:t>이행적</a:t>
            </a:r>
            <a:r>
              <a:rPr lang="ko-KR" altLang="en-US" dirty="0"/>
              <a:t> 함수 종속의 관계를 찾을 수 없어</a:t>
            </a:r>
            <a:r>
              <a:rPr lang="en-US" altLang="ko-KR" dirty="0"/>
              <a:t>, </a:t>
            </a:r>
            <a:r>
              <a:rPr lang="ko-KR" altLang="en-US" dirty="0"/>
              <a:t>제 </a:t>
            </a:r>
            <a:r>
              <a:rPr lang="en-US" altLang="ko-KR" dirty="0"/>
              <a:t>2</a:t>
            </a:r>
            <a:r>
              <a:rPr lang="ko-KR" altLang="en-US" dirty="0" err="1"/>
              <a:t>정규형까지만</a:t>
            </a:r>
            <a:r>
              <a:rPr lang="ko-KR" altLang="en-US" dirty="0"/>
              <a:t> 진행</a:t>
            </a:r>
            <a:r>
              <a:rPr lang="en-US" altLang="ko-KR"/>
              <a:t>.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7288909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189</Words>
  <Application>Microsoft Office PowerPoint</Application>
  <PresentationFormat>와이드스크린</PresentationFormat>
  <Paragraphs>93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원본 테이블</vt:lpstr>
      <vt:lpstr>제1 정규형</vt:lpstr>
      <vt:lpstr>제2 정규형</vt:lpstr>
      <vt:lpstr>제3 정규형 및 BCNF 정규형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도경진</dc:creator>
  <cp:lastModifiedBy>도경진</cp:lastModifiedBy>
  <cp:revision>77</cp:revision>
  <dcterms:created xsi:type="dcterms:W3CDTF">2025-11-24T06:10:53Z</dcterms:created>
  <dcterms:modified xsi:type="dcterms:W3CDTF">2025-11-24T07:20:08Z</dcterms:modified>
</cp:coreProperties>
</file>